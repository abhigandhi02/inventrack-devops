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d37571c-0409-b3e8-5e03-a0759d87b1c7}">
          <p14:sldIdLst>
            <p14:sldId id="256"/>
            <p14:sldId id="257"/>
          </p14:sldIdLst>
        </p14:section>
        <p14:section name="Architecture" id="{df91083c-1ca1-b0cf-773c-ecbc74dda1bd}">
          <p14:sldIdLst>
            <p14:sldId id="258"/>
            <p14:sldId id="259"/>
          </p14:sldIdLst>
        </p14:section>
        <p14:section name="Build" id="{ff6f2376-0d50-3910-81c8-42e7ebbf78ca}">
          <p14:sldIdLst>
            <p14:sldId id="260"/>
            <p14:sldId id="261"/>
            <p14:sldId id="262"/>
          </p14:sldIdLst>
        </p14:section>
        <p14:section name="Deliver" id="{39c215a9-1f77-769f-efaa-4f1db4b7daf4}">
          <p14:sldIdLst>
            <p14:sldId id="263"/>
            <p14:sldId id="264"/>
          </p14:sldIdLst>
        </p14:section>
        <p14:section name="Run" id="{fa1ba3c1-f6f0-61ce-c484-2c07be531adc}">
          <p14:sldIdLst>
            <p14:sldId id="265"/>
            <p14:sldId id="266"/>
            <p14:sldId id="267"/>
            <p14:sldId id="268"/>
          </p14:sldIdLst>
        </p14:section>
        <p14:section name="Troubleshoot" id="{981b6bec-3ee3-a6e8-52a7-b2d50483349c}">
          <p14:sldIdLst>
            <p14:sldId id="269"/>
          </p14:sldIdLst>
        </p14:section>
        <p14:section name="Wrap-up" id="{411e9106-e5ae-8d29-5a8e-6fc0272894ff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yourself: Abhi Gandhi, roll number 10397. InvenTrack is a stock-control app for a small office-supplies shop, wrapped in the full DevOps toolchain from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numbers. Each one is backed by a screenshot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half: GitHub Actions builds, tests, scans and publishes images tagged with the commit SHA, then commits that SHA to the GitOps values file. Bottom half: Argo CD syncs the Helm chart into Kubernetes; Ingress routes / to web and /api to the API; Prometheus scrapes the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tool per job; the slides that follow walk through each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backend with 12 endpoints. Every stock change is recorded as a movement, so there's a full audit trail. Migrations run once per release in a Helm hook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run on SQLite so they're fast and need no database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Compose brings up all three services with health checks; migrations run before the API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are built once, scanned as a tarball, and pushed from that same tarball, so what was scanned is exactly what ships. Every image tag maps to one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images carry CVEs too. One line in the Dockerfile cleared every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Credentials come only from aws configure; only terraform.tfvars.example is committed. Every resource is named and tagged with my name and roll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passes helm lint. Install, upgrade and rollback were all exercised in the troubleshooting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imported automatically from a ConfigMap, so it survives a fresh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is the single source of truth. Nobody runs kubectl apply against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2 also uncovered a Helm 4 server-side-apply conflict: kubectl patch had taken ownership of the selector field, so Helm refused until --force-conflicts.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lessons that came out of real failures during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repository link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InvenTrack DevOps Project  ·  Abhi Gandhi  ·  Roll No. 10397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T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InvenTrack DevOps Project  ·  Abhi Gandhi  ·  Roll No. 10397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bhiGandhi02/inventrack-devops" TargetMode="External"/><Relationship Id="rId1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InvenTrack: End-to-End DevOps Project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From git push to a self-healing Kubernetes deployment</a:t>
            </a:r>
            <a:endParaRPr lang="en-US" sz="2000" dirty="0"/>
          </a:p>
        </p:txBody>
      </p:sp>
      <p:sp>
        <p:nvSpPr>
          <p:cNvPr id="4" name="badge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bad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028700"/>
            <a:ext cx="411480" cy="411480"/>
          </a:xfrm>
          <a:prstGeom prst="rect">
            <a:avLst/>
          </a:prstGeom>
        </p:spPr>
      </p:pic>
      <p:sp>
        <p:nvSpPr>
          <p:cNvPr id="6" name="presenter"/>
          <p:cNvSpPr txBox="1"/>
          <p:nvPr/>
        </p:nvSpPr>
        <p:spPr>
          <a:xfrm>
            <a:off x="548640" y="49834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Abhi Gandhi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Roll No. 10397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B7D3CE"/>
                </a:solidFill>
              </a:rPr>
              <a:t>Session 21 · Final DevOps Project and Troubleshooting</a:t>
            </a:r>
            <a:endParaRPr lang="en-US" sz="2200" dirty="0"/>
          </a:p>
        </p:txBody>
      </p:sp>
      <p:sp>
        <p:nvSpPr>
          <p:cNvPr id="7" name="frame app-mobile.png"/>
          <p:cNvSpPr/>
          <p:nvPr/>
        </p:nvSpPr>
        <p:spPr>
          <a:xfrm>
            <a:off x="8723376" y="961058"/>
            <a:ext cx="2944368" cy="4935884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8" name="app-mobile.png" descr="InvenTrack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015922"/>
            <a:ext cx="2834640" cy="48261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at a glance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stock-control app for a small office-supplies shop, delivered through the full course toolchain. Every screenshot in this deck comes from a real run.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pytest tests,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100% coverage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240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GitHub Actions jobs,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all green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→ 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HIGH CVEs after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the Trivy fix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611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AWS resources applied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and destroyed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83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5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API pods scaled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by the HPA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4983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5806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break-and-fix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scenarios</a:t>
            </a:r>
            <a:endParaRPr lang="en-US" sz="1300" dirty="0"/>
          </a:p>
        </p:txBody>
      </p:sp>
      <p:sp>
        <p:nvSpPr>
          <p:cNvPr id="16" name="frame app-desktop.png"/>
          <p:cNvSpPr/>
          <p:nvPr/>
        </p:nvSpPr>
        <p:spPr>
          <a:xfrm>
            <a:off x="6254496" y="1676534"/>
            <a:ext cx="5413248" cy="4053571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17" name="app-desktop.png" descr="InvenTrack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31398"/>
            <a:ext cx="5303520" cy="39438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Architecture: pipeline and runtime</a:t>
            </a:r>
            <a:endParaRPr lang="en-US" sz="3400" dirty="0"/>
          </a:p>
        </p:txBody>
      </p:sp>
      <p:sp>
        <p:nvSpPr>
          <p:cNvPr id="3" name="frame architecture.png"/>
          <p:cNvSpPr/>
          <p:nvPr/>
        </p:nvSpPr>
        <p:spPr>
          <a:xfrm>
            <a:off x="1888084" y="1179576"/>
            <a:ext cx="8415528" cy="509320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4" name="architecture.png" descr="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948" y="1234440"/>
            <a:ext cx="8305800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stack Backend"/>
          <p:cNvSpPr/>
          <p:nvPr/>
        </p:nvSpPr>
        <p:spPr>
          <a:xfrm>
            <a:off x="548640" y="128016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31520" y="149961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bad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59636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36192" y="14081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36192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Python 3.12, FastAPI, SQLAlchemy, Alembic, Pydantic v2</a:t>
            </a:r>
            <a:endParaRPr lang="en-US" sz="1200" dirty="0"/>
          </a:p>
        </p:txBody>
      </p:sp>
      <p:sp>
        <p:nvSpPr>
          <p:cNvPr id="8" name="stack Frontend"/>
          <p:cNvSpPr/>
          <p:nvPr/>
        </p:nvSpPr>
        <p:spPr>
          <a:xfrm>
            <a:off x="4270248" y="128016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453128" y="149961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bad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1659636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4081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Frontend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257800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React 19 + Vite, served by unprivileged nginx</a:t>
            </a:r>
            <a:endParaRPr lang="en-US" sz="1200" dirty="0"/>
          </a:p>
        </p:txBody>
      </p:sp>
      <p:sp>
        <p:nvSpPr>
          <p:cNvPr id="13" name="stack Database"/>
          <p:cNvSpPr/>
          <p:nvPr/>
        </p:nvSpPr>
        <p:spPr>
          <a:xfrm>
            <a:off x="7991856" y="128016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8174736" y="149961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bad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56" y="165963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79408" y="14081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Database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979408" y="1737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PostgreSQL 16, StatefulSet with a 1 Gi PVC</a:t>
            </a:r>
            <a:endParaRPr lang="en-US" sz="1200" dirty="0"/>
          </a:p>
        </p:txBody>
      </p:sp>
      <p:sp>
        <p:nvSpPr>
          <p:cNvPr id="18" name="stack Testing"/>
          <p:cNvSpPr/>
          <p:nvPr/>
        </p:nvSpPr>
        <p:spPr>
          <a:xfrm>
            <a:off x="548640" y="251460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731520" y="273405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badg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2894076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36192" y="264261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536192" y="2971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pytest + pytest-cov on a throwaway SQLite DB</a:t>
            </a:r>
            <a:endParaRPr lang="en-US" sz="1200" dirty="0"/>
          </a:p>
        </p:txBody>
      </p:sp>
      <p:sp>
        <p:nvSpPr>
          <p:cNvPr id="23" name="stack Containers"/>
          <p:cNvSpPr/>
          <p:nvPr/>
        </p:nvSpPr>
        <p:spPr>
          <a:xfrm>
            <a:off x="4270248" y="251460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453128" y="273405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badg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48" y="2894076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264261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Containers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257800" y="2971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Multi-stage, non-root images, Docker Compose</a:t>
            </a:r>
            <a:endParaRPr lang="en-US" sz="1200" dirty="0"/>
          </a:p>
        </p:txBody>
      </p:sp>
      <p:sp>
        <p:nvSpPr>
          <p:cNvPr id="28" name="stack CI/CD"/>
          <p:cNvSpPr/>
          <p:nvPr/>
        </p:nvSpPr>
        <p:spPr>
          <a:xfrm>
            <a:off x="7991856" y="251460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8174736" y="273405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0" name="badge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56" y="2894076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79408" y="264261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CI/CD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979408" y="2971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GitHub Actions, GitHub Container Registry</a:t>
            </a:r>
            <a:endParaRPr lang="en-US" sz="1200" dirty="0"/>
          </a:p>
        </p:txBody>
      </p:sp>
      <p:sp>
        <p:nvSpPr>
          <p:cNvPr id="33" name="stack Security"/>
          <p:cNvSpPr/>
          <p:nvPr/>
        </p:nvSpPr>
        <p:spPr>
          <a:xfrm>
            <a:off x="548640" y="374904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731520" y="396849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5" name="badge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" y="4128516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536192" y="38770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Security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1536192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Bandit, CodeQL, pip-audit, npm audit, Gitleaks, Trivy</a:t>
            </a:r>
            <a:endParaRPr lang="en-US" sz="1200" dirty="0"/>
          </a:p>
        </p:txBody>
      </p:sp>
      <p:sp>
        <p:nvSpPr>
          <p:cNvPr id="38" name="stack Orchestration"/>
          <p:cNvSpPr/>
          <p:nvPr/>
        </p:nvSpPr>
        <p:spPr>
          <a:xfrm>
            <a:off x="4270248" y="374904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39" name="badge"/>
          <p:cNvSpPr/>
          <p:nvPr/>
        </p:nvSpPr>
        <p:spPr>
          <a:xfrm>
            <a:off x="4453128" y="396849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40" name="badge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148" y="4128516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257800" y="38770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Orchestration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525780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kind, Helm, ingress-nginx, HPA, restricted PSS</a:t>
            </a:r>
            <a:endParaRPr lang="en-US" sz="1200" dirty="0"/>
          </a:p>
        </p:txBody>
      </p:sp>
      <p:sp>
        <p:nvSpPr>
          <p:cNvPr id="43" name="stack Infrastructure"/>
          <p:cNvSpPr/>
          <p:nvPr/>
        </p:nvSpPr>
        <p:spPr>
          <a:xfrm>
            <a:off x="7991856" y="374904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4" name="badge"/>
          <p:cNvSpPr/>
          <p:nvPr/>
        </p:nvSpPr>
        <p:spPr>
          <a:xfrm>
            <a:off x="8174736" y="396849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45" name="badge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4756" y="4128516"/>
            <a:ext cx="320040" cy="32004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979408" y="38770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Infrastructure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979408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Terraform: AWS VPC + EKS, LocalStack for practice</a:t>
            </a:r>
            <a:endParaRPr lang="en-US" sz="1200" dirty="0"/>
          </a:p>
        </p:txBody>
      </p:sp>
      <p:sp>
        <p:nvSpPr>
          <p:cNvPr id="48" name="stack Monitoring"/>
          <p:cNvSpPr/>
          <p:nvPr/>
        </p:nvSpPr>
        <p:spPr>
          <a:xfrm>
            <a:off x="548640" y="498348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9" name="badge"/>
          <p:cNvSpPr/>
          <p:nvPr/>
        </p:nvSpPr>
        <p:spPr>
          <a:xfrm>
            <a:off x="731520" y="520293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0" name="badge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" y="5362956"/>
            <a:ext cx="320040" cy="32004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1536192" y="511149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52" name="Text 40"/>
          <p:cNvSpPr txBox="1"/>
          <p:nvPr/>
        </p:nvSpPr>
        <p:spPr>
          <a:xfrm>
            <a:off x="1536192" y="5440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Prometheus, Alertmanager, Grafana</a:t>
            </a:r>
            <a:endParaRPr lang="en-US" sz="1200" dirty="0"/>
          </a:p>
        </p:txBody>
      </p:sp>
      <p:sp>
        <p:nvSpPr>
          <p:cNvPr id="53" name="stack GitOps"/>
          <p:cNvSpPr/>
          <p:nvPr/>
        </p:nvSpPr>
        <p:spPr>
          <a:xfrm>
            <a:off x="4270248" y="498348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54" name="badge"/>
          <p:cNvSpPr/>
          <p:nvPr/>
        </p:nvSpPr>
        <p:spPr>
          <a:xfrm>
            <a:off x="4453128" y="520293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5" name="badge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3148" y="5362956"/>
            <a:ext cx="320040" cy="320040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5257800" y="511149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GitOps</a:t>
            </a:r>
            <a:endParaRPr lang="en-US" sz="1500" dirty="0"/>
          </a:p>
        </p:txBody>
      </p:sp>
      <p:sp>
        <p:nvSpPr>
          <p:cNvPr id="57" name="Text 44"/>
          <p:cNvSpPr txBox="1"/>
          <p:nvPr/>
        </p:nvSpPr>
        <p:spPr>
          <a:xfrm>
            <a:off x="5257800" y="5440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Argo CD: auto-sync, prune, self-heal</a:t>
            </a:r>
            <a:endParaRPr lang="en-US" sz="1200" dirty="0"/>
          </a:p>
        </p:txBody>
      </p:sp>
      <p:sp>
        <p:nvSpPr>
          <p:cNvPr id="58" name="stack Source control"/>
          <p:cNvSpPr/>
          <p:nvPr/>
        </p:nvSpPr>
        <p:spPr>
          <a:xfrm>
            <a:off x="7991856" y="4983480"/>
            <a:ext cx="356616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59" name="badge"/>
          <p:cNvSpPr/>
          <p:nvPr/>
        </p:nvSpPr>
        <p:spPr>
          <a:xfrm>
            <a:off x="8174736" y="5202936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0" name="badge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4756" y="5362956"/>
            <a:ext cx="320040" cy="320040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8979408" y="511149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Source control</a:t>
            </a:r>
            <a:endParaRPr lang="en-US" sz="1500" dirty="0"/>
          </a:p>
        </p:txBody>
      </p:sp>
      <p:sp>
        <p:nvSpPr>
          <p:cNvPr id="62" name="Text 48"/>
          <p:cNvSpPr txBox="1"/>
          <p:nvPr/>
        </p:nvSpPr>
        <p:spPr>
          <a:xfrm>
            <a:off x="8979408" y="5440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 + public GitHub repository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application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Path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/health · /ready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Liveness, and readiness with a DB check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/metrics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Prometheus metrics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 / POST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 with search and filters, create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 / PUT / DELETE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/api/items/{id}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Read, partial update, delete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 / GET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/api/items/{id}/movements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Receive or ship stock, history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/api/summary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Counts, stock value, reorder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548640" y="4343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Two tables from Alembic migrations: items (unique SKU, quantity ≥ 0) and stock_movements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React UI: KPI cards, search, filters, +/− stock buttons, per-item history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Responsive: on phones, table rows turn into cards</a:t>
            </a:r>
            <a:endParaRPr lang="en-US" sz="1500" dirty="0"/>
          </a:p>
        </p:txBody>
      </p:sp>
      <p:sp>
        <p:nvSpPr>
          <p:cNvPr id="5" name="frame app-stock-history.png"/>
          <p:cNvSpPr/>
          <p:nvPr/>
        </p:nvSpPr>
        <p:spPr>
          <a:xfrm>
            <a:off x="7260336" y="1396074"/>
            <a:ext cx="4407408" cy="2511373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6" name="app-stock-history.png" descr="Stock history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50938"/>
            <a:ext cx="4297680" cy="2401645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7315200" y="3886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Per-item stock history: every change is a recorded movement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315200" y="43434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731520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API endpoints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43434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877824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Alembic migrations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241280" y="43434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1024128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services in Compose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Testing with pytest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tests in three files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234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line coverage (CI fails under 90%)</a:t>
            </a:r>
            <a:endParaRPr lang="en-US" sz="1300" dirty="0"/>
          </a:p>
        </p:txBody>
      </p:sp>
      <p:sp>
        <p:nvSpPr>
          <p:cNvPr id="7" name="bullets"/>
          <p:cNvSpPr txBox="1"/>
          <p:nvPr/>
        </p:nvSpPr>
        <p:spPr>
          <a:xfrm>
            <a:off x="548640" y="27889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Covers every endpoint and its error paths: 404, 409, 422, overselling, zero-change movements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conftest.py points the app at a throwaway SQLite file, so PostgreSQL is never touched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Tables are created for each test and the file is deleted afterwards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backend-tests job blocks the whole pipeline on any failure</a:t>
            </a:r>
            <a:endParaRPr lang="en-US" sz="1600" dirty="0"/>
          </a:p>
        </p:txBody>
      </p:sp>
      <p:sp>
        <p:nvSpPr>
          <p:cNvPr id="8" name="frame pytest-results.png"/>
          <p:cNvSpPr/>
          <p:nvPr/>
        </p:nvSpPr>
        <p:spPr>
          <a:xfrm>
            <a:off x="6092422" y="1179576"/>
            <a:ext cx="5463076" cy="509320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9" name="pytest-results.png" descr="pytest: 23 passed, 100% cove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7286" y="1234440"/>
            <a:ext cx="5353348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Containerisation with Docker</a:t>
            </a:r>
            <a:endParaRPr lang="en-US" sz="3400" dirty="0"/>
          </a:p>
        </p:txBody>
      </p:sp>
      <p:sp>
        <p:nvSpPr>
          <p:cNvPr id="3" name="card Backend image"/>
          <p:cNvSpPr/>
          <p:nvPr/>
        </p:nvSpPr>
        <p:spPr>
          <a:xfrm>
            <a:off x="548640" y="1280160"/>
            <a:ext cx="5394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Backend image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105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python:3.12-slim, dependency layer cached separately, HEALTHCHECK. Runs as user inventrack, uid 10001.</a:t>
            </a:r>
            <a:endParaRPr lang="en-US" sz="1400" dirty="0"/>
          </a:p>
        </p:txBody>
      </p:sp>
      <p:sp>
        <p:nvSpPr>
          <p:cNvPr id="6" name="card Frontend image"/>
          <p:cNvSpPr/>
          <p:nvPr/>
        </p:nvSpPr>
        <p:spPr>
          <a:xfrm>
            <a:off x="6245352" y="1280160"/>
            <a:ext cx="5394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Frontend image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18105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Stage 1: node:22-alpine runs npm ci and vite build. Stage 2: nginx-unprivileged + apk upgrade. Runs as nginx, uid 101.</a:t>
            </a:r>
            <a:endParaRPr lang="en-US" sz="1400" dirty="0"/>
          </a:p>
        </p:txBody>
      </p:sp>
      <p:sp>
        <p:nvSpPr>
          <p:cNvPr id="9" name="frame docker-compose-up.png"/>
          <p:cNvSpPr/>
          <p:nvPr/>
        </p:nvSpPr>
        <p:spPr>
          <a:xfrm>
            <a:off x="1349566" y="2779776"/>
            <a:ext cx="9492564" cy="312724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10" name="docker-compose-up.png" descr="docker compose 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430" y="2834640"/>
            <a:ext cx="9382836" cy="301752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docker compose up --build: PostgreSQL, backend and frontend healthy, both app containers non-root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CI/CD pipeline: 15 jobs on every push</a:t>
            </a:r>
            <a:endParaRPr lang="en-US" sz="3400" dirty="0"/>
          </a:p>
        </p:txBody>
      </p:sp>
      <p:sp>
        <p:nvSpPr>
          <p:cNvPr id="3" name="step Test"/>
          <p:cNvSpPr/>
          <p:nvPr/>
        </p:nvSpPr>
        <p:spPr>
          <a:xfrm>
            <a:off x="548640" y="1280160"/>
            <a:ext cx="1490864" cy="1874520"/>
          </a:xfrm>
          <a:prstGeom prst="roundRect">
            <a:avLst>
              <a:gd name="adj" fmla="val 4907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1019752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bad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912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029968"/>
            <a:ext cx="134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31720"/>
            <a:ext cx="130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pytest, vite build, helm lint, terraform validate</a:t>
            </a:r>
            <a:endParaRPr lang="en-US" sz="1100" dirty="0"/>
          </a:p>
        </p:txBody>
      </p:sp>
      <p:sp>
        <p:nvSpPr>
          <p:cNvPr id="8" name="step Scan code"/>
          <p:cNvSpPr/>
          <p:nvPr/>
        </p:nvSpPr>
        <p:spPr>
          <a:xfrm>
            <a:off x="2149232" y="1280160"/>
            <a:ext cx="1490864" cy="1874520"/>
          </a:xfrm>
          <a:prstGeom prst="roundRect">
            <a:avLst>
              <a:gd name="adj" fmla="val 4907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2620344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bad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504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22384" y="2029968"/>
            <a:ext cx="134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Scan code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240672" y="2331720"/>
            <a:ext cx="130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Bandit, CodeQL, pip-audit, npm audit, Gitleaks</a:t>
            </a:r>
            <a:endParaRPr lang="en-US" sz="1100" dirty="0"/>
          </a:p>
        </p:txBody>
      </p:sp>
      <p:sp>
        <p:nvSpPr>
          <p:cNvPr id="13" name="step Build"/>
          <p:cNvSpPr/>
          <p:nvPr/>
        </p:nvSpPr>
        <p:spPr>
          <a:xfrm>
            <a:off x="3749824" y="1280160"/>
            <a:ext cx="1490864" cy="1874520"/>
          </a:xfrm>
          <a:prstGeom prst="roundRect">
            <a:avLst>
              <a:gd name="adj" fmla="val 4907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4220936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bad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096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22976" y="2029968"/>
            <a:ext cx="134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841264" y="2331720"/>
            <a:ext cx="130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Both images, tagged with the commit SHA</a:t>
            </a:r>
            <a:endParaRPr lang="en-US" sz="1100" dirty="0"/>
          </a:p>
        </p:txBody>
      </p:sp>
      <p:sp>
        <p:nvSpPr>
          <p:cNvPr id="18" name="step Trivy gate"/>
          <p:cNvSpPr/>
          <p:nvPr/>
        </p:nvSpPr>
        <p:spPr>
          <a:xfrm>
            <a:off x="5350416" y="1280160"/>
            <a:ext cx="1490864" cy="1874520"/>
          </a:xfrm>
          <a:prstGeom prst="roundRect">
            <a:avLst>
              <a:gd name="adj" fmla="val 4907"/>
            </a:avLst>
          </a:prstGeom>
          <a:solidFill>
            <a:srgbClr val="FEF3E2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5821528" y="141732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badg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88" y="1554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23568" y="2029968"/>
            <a:ext cx="134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Trivy gate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441856" y="2331720"/>
            <a:ext cx="130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Fails on fixable HIGH/CRITICAL</a:t>
            </a:r>
            <a:endParaRPr lang="en-US" sz="1100" dirty="0"/>
          </a:p>
        </p:txBody>
      </p:sp>
      <p:sp>
        <p:nvSpPr>
          <p:cNvPr id="23" name="step Publish"/>
          <p:cNvSpPr/>
          <p:nvPr/>
        </p:nvSpPr>
        <p:spPr>
          <a:xfrm>
            <a:off x="6951008" y="1280160"/>
            <a:ext cx="1490864" cy="1874520"/>
          </a:xfrm>
          <a:prstGeom prst="roundRect">
            <a:avLst>
              <a:gd name="adj" fmla="val 4907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7422119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badg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279" y="1554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24160" y="2029968"/>
            <a:ext cx="134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Publish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042448" y="2331720"/>
            <a:ext cx="130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Push to GHCR, never :latest</a:t>
            </a:r>
            <a:endParaRPr lang="en-US" sz="1100" dirty="0"/>
          </a:p>
        </p:txBody>
      </p:sp>
      <p:sp>
        <p:nvSpPr>
          <p:cNvPr id="28" name="step Deploy test"/>
          <p:cNvSpPr/>
          <p:nvPr/>
        </p:nvSpPr>
        <p:spPr>
          <a:xfrm>
            <a:off x="8551599" y="1280160"/>
            <a:ext cx="1490864" cy="1874520"/>
          </a:xfrm>
          <a:prstGeom prst="roundRect">
            <a:avLst>
              <a:gd name="adj" fmla="val 4907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9022711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0" name="badge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9871" y="15544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624751" y="2029968"/>
            <a:ext cx="134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 test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643039" y="2331720"/>
            <a:ext cx="130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kind in the runner, Helm, smoke test</a:t>
            </a:r>
            <a:endParaRPr lang="en-US" sz="1100" dirty="0"/>
          </a:p>
        </p:txBody>
      </p:sp>
      <p:sp>
        <p:nvSpPr>
          <p:cNvPr id="33" name="step GitOps bump"/>
          <p:cNvSpPr/>
          <p:nvPr/>
        </p:nvSpPr>
        <p:spPr>
          <a:xfrm>
            <a:off x="10152191" y="1280160"/>
            <a:ext cx="1490864" cy="1874520"/>
          </a:xfrm>
          <a:prstGeom prst="roundRect">
            <a:avLst>
              <a:gd name="adj" fmla="val 4907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10623303" y="14173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5" name="badge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0463" y="155448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225343" y="2029968"/>
            <a:ext cx="134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GitOps bump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0243631" y="2331720"/>
            <a:ext cx="130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Commit the SHA to values-gitops.yaml</a:t>
            </a:r>
            <a:endParaRPr lang="en-US" sz="1100" dirty="0"/>
          </a:p>
        </p:txBody>
      </p:sp>
      <p:sp>
        <p:nvSpPr>
          <p:cNvPr id="38" name="frame github-actions-pipeline.png"/>
          <p:cNvSpPr/>
          <p:nvPr/>
        </p:nvSpPr>
        <p:spPr>
          <a:xfrm>
            <a:off x="1286682" y="3374136"/>
            <a:ext cx="4010315" cy="289864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39" name="github-actions-pipeline.png" descr="GitHub Actions ru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1546" y="3429000"/>
            <a:ext cx="3900587" cy="2788920"/>
          </a:xfrm>
          <a:prstGeom prst="rect">
            <a:avLst/>
          </a:prstGeom>
        </p:spPr>
      </p:pic>
      <p:sp>
        <p:nvSpPr>
          <p:cNvPr id="40" name="frame ghcr-backend-sha-tag.png"/>
          <p:cNvSpPr/>
          <p:nvPr/>
        </p:nvSpPr>
        <p:spPr>
          <a:xfrm>
            <a:off x="6948442" y="3374136"/>
            <a:ext cx="4116797" cy="289864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41" name="ghcr-backend-sha-tag.png" descr="GHCR package tagged with SH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3306" y="3429000"/>
            <a:ext cx="4007069" cy="2788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DevSecOps: Trivy found 43 HIGH CVEs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</a:t>
            </a:r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HIGH CVEs in the frontend image</a:t>
            </a:r>
            <a:endParaRPr lang="en-US" sz="1300" dirty="0"/>
          </a:p>
        </p:txBody>
      </p:sp>
      <p:sp>
        <p:nvSpPr>
          <p:cNvPr id="5" name="bullets"/>
          <p:cNvSpPr txBox="1"/>
          <p:nvPr/>
        </p:nvSpPr>
        <p:spPr>
          <a:xfrm>
            <a:off x="548640" y="274320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43 came from Alpine packages in the nginx base image, not from my code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Example: CVE-2026-33630, a use-after-free in c-ares 1.34.6 (fixed in 1.34.8)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Fix: apk upgrade --no-cache in the runtime stage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backend image was clean from the start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 uses severity HIGH,CRITICAL, ignore-unfixed and exit-code 1</a:t>
            </a:r>
            <a:endParaRPr lang="en-US" sz="1500" dirty="0"/>
          </a:p>
        </p:txBody>
      </p:sp>
      <p:sp>
        <p:nvSpPr>
          <p:cNvPr id="6" name="frame trivy-frontend-before-fix.png"/>
          <p:cNvSpPr/>
          <p:nvPr/>
        </p:nvSpPr>
        <p:spPr>
          <a:xfrm>
            <a:off x="6124658" y="1179576"/>
            <a:ext cx="4529923" cy="312724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7" name="trivy-frontend-before-fix.png" descr="Trivy before f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522" y="1234440"/>
            <a:ext cx="4420195" cy="3017520"/>
          </a:xfrm>
          <a:prstGeom prst="rect">
            <a:avLst/>
          </a:prstGeom>
        </p:spPr>
      </p:pic>
      <p:sp>
        <p:nvSpPr>
          <p:cNvPr id="8" name="frame trivy-frontend-after-fix.png"/>
          <p:cNvSpPr/>
          <p:nvPr/>
        </p:nvSpPr>
        <p:spPr>
          <a:xfrm>
            <a:off x="5714341" y="4471416"/>
            <a:ext cx="5350558" cy="170992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9" name="trivy-frontend-after-fix.png" descr="Trivy after f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205" y="4526280"/>
            <a:ext cx="5240830" cy="1600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Infrastructure as Code: AWS VPC + EKS</a:t>
            </a:r>
            <a:endParaRPr lang="en-US" sz="3400" dirty="0"/>
          </a:p>
        </p:txBody>
      </p:sp>
      <p:sp>
        <p:nvSpPr>
          <p:cNvPr id="3" name="card Network module"/>
          <p:cNvSpPr/>
          <p:nvPr/>
        </p:nvSpPr>
        <p:spPr>
          <a:xfrm>
            <a:off x="548640" y="1280160"/>
            <a:ext cx="4846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Network module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105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VPC 10.40.0.0/16 · 2 public + 2 private subnets across 2 AZs · Internet gateway + NAT</a:t>
            </a:r>
            <a:endParaRPr lang="en-US" sz="1400" dirty="0"/>
          </a:p>
        </p:txBody>
      </p:sp>
      <p:sp>
        <p:nvSpPr>
          <p:cNvPr id="6" name="card EKS cluster"/>
          <p:cNvSpPr/>
          <p:nvPr/>
        </p:nvSpPr>
        <p:spPr>
          <a:xfrm>
            <a:off x="548640" y="2834640"/>
            <a:ext cx="48463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EKS cluster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649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Kubernetes 1.34 · managed node group in private subnets</a:t>
            </a:r>
            <a:endParaRPr lang="en-US" sz="1400" dirty="0"/>
          </a:p>
        </p:txBody>
      </p:sp>
      <p:sp>
        <p:nvSpPr>
          <p:cNvPr id="9" name="card Applied on real AWS (ap-south-1)"/>
          <p:cNvSpPr/>
          <p:nvPr/>
        </p:nvSpPr>
        <p:spPr>
          <a:xfrm>
            <a:off x="548640" y="416052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EF3E2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Applied on real AWS (ap-south-1)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9087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 52 → apply → node Ready → destroy. Smallest size: 1× t3.small, minimal_cost = true. Fixed an IAM tag error and untainted the cluster after a network drop. Practised first for free on LocalStack + kind.</a:t>
            </a:r>
            <a:endParaRPr lang="en-US" sz="1300" dirty="0"/>
          </a:p>
        </p:txBody>
      </p:sp>
      <p:sp>
        <p:nvSpPr>
          <p:cNvPr id="12" name="frame aws-vpc-eks.png"/>
          <p:cNvSpPr/>
          <p:nvPr/>
        </p:nvSpPr>
        <p:spPr>
          <a:xfrm>
            <a:off x="5614416" y="1373886"/>
            <a:ext cx="6053328" cy="470458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13" name="aws-vpc-eks.png" descr="AWS VPC and EKS cons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28750"/>
            <a:ext cx="5943600" cy="45948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Kubernetes and Helm</a:t>
            </a:r>
            <a:endParaRPr lang="en-US" sz="34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280160"/>
            <a:ext cx="4023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API: 2 replicas, HPA up to 5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Web: 2 replicas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PostgreSQL StatefulSet, 1 Gi PVC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ClusterIP Services + Ingress: / → web, /api → API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PDB, ConfigMap, generated Secret, Alembic hook Job, ServiceMonitor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Non-root pods, capabilities dropped, restricted Pod Security</a:t>
            </a:r>
            <a:endParaRPr lang="en-US" sz="1500" dirty="0"/>
          </a:p>
        </p:txBody>
      </p:sp>
      <p:sp>
        <p:nvSpPr>
          <p:cNvPr id="4" name="frame k8s-resources.png"/>
          <p:cNvSpPr/>
          <p:nvPr/>
        </p:nvSpPr>
        <p:spPr>
          <a:xfrm>
            <a:off x="5119918" y="1225296"/>
            <a:ext cx="6173644" cy="340156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5" name="k8s-resources.png" descr="kubectl get resour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782" y="1280160"/>
            <a:ext cx="6063916" cy="3291840"/>
          </a:xfrm>
          <a:prstGeom prst="rect">
            <a:avLst/>
          </a:prstGeom>
        </p:spPr>
      </p:pic>
      <p:sp>
        <p:nvSpPr>
          <p:cNvPr id="6" name="frame hpa-scaling.png"/>
          <p:cNvSpPr/>
          <p:nvPr/>
        </p:nvSpPr>
        <p:spPr>
          <a:xfrm>
            <a:off x="6216150" y="4745736"/>
            <a:ext cx="3981180" cy="148132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7" name="hpa-scaling.png" descr="HPA sca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014" y="4800600"/>
            <a:ext cx="3871452" cy="13716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548640" y="5852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During a load test the HPA scaled the API from 2 to 5 pods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Observability: Prometheus and Grafana</a:t>
            </a:r>
            <a:endParaRPr lang="en-US" sz="3400" dirty="0"/>
          </a:p>
        </p:txBody>
      </p:sp>
      <p:sp>
        <p:nvSpPr>
          <p:cNvPr id="3" name="badge"/>
          <p:cNvSpPr/>
          <p:nvPr/>
        </p:nvSpPr>
        <p:spPr>
          <a:xfrm>
            <a:off x="548640" y="1325880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4" name="bad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47447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075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Metrics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63677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/metrics exposes request count, latency histogram and in-flight requests</a:t>
            </a:r>
            <a:endParaRPr lang="en-US" sz="1300" dirty="0"/>
          </a:p>
        </p:txBody>
      </p:sp>
      <p:sp>
        <p:nvSpPr>
          <p:cNvPr id="7" name="badge"/>
          <p:cNvSpPr/>
          <p:nvPr/>
        </p:nvSpPr>
        <p:spPr>
          <a:xfrm>
            <a:off x="548640" y="2532888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badg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681478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5146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Scraping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84378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ServiceMonitor lets kube-prometheus-stack find every API pod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48640" y="3739896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bad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888486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7216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40507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15 Grafana panels: traffic, errors, latency, CPU, memory, replicas</a:t>
            </a:r>
            <a:endParaRPr lang="en-US" sz="1300" dirty="0"/>
          </a:p>
        </p:txBody>
      </p:sp>
      <p:sp>
        <p:nvSpPr>
          <p:cNvPr id="15" name="badge"/>
          <p:cNvSpPr/>
          <p:nvPr/>
        </p:nvSpPr>
        <p:spPr>
          <a:xfrm>
            <a:off x="548640" y="4946904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badg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5095494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49286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Alerts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5257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 rules: availability, crash loops, 5xx rate, latency, HPA saturation</a:t>
            </a:r>
            <a:endParaRPr lang="en-US" sz="1300" dirty="0"/>
          </a:p>
        </p:txBody>
      </p:sp>
      <p:sp>
        <p:nvSpPr>
          <p:cNvPr id="19" name="frame grafana-dashboard.png"/>
          <p:cNvSpPr/>
          <p:nvPr/>
        </p:nvSpPr>
        <p:spPr>
          <a:xfrm>
            <a:off x="5209970" y="1225296"/>
            <a:ext cx="6130700" cy="500176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20" name="grafana-dashboard.png" descr="Grafana dash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834" y="1280160"/>
            <a:ext cx="602097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GitOps with Argo CD</a:t>
            </a:r>
            <a:endParaRPr lang="en-US" sz="3400" dirty="0"/>
          </a:p>
        </p:txBody>
      </p:sp>
      <p:sp>
        <p:nvSpPr>
          <p:cNvPr id="3" name="flow git push"/>
          <p:cNvSpPr/>
          <p:nvPr/>
        </p:nvSpPr>
        <p:spPr>
          <a:xfrm>
            <a:off x="548640" y="1325880"/>
            <a:ext cx="18288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 push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2450592" y="1554480"/>
            <a:ext cx="237744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flow CI builds :sha"/>
          <p:cNvSpPr/>
          <p:nvPr/>
        </p:nvSpPr>
        <p:spPr>
          <a:xfrm>
            <a:off x="2761488" y="1325880"/>
            <a:ext cx="18288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61488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 builds :sha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4663440" y="1554480"/>
            <a:ext cx="237744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flow CI commits SHA to Git"/>
          <p:cNvSpPr/>
          <p:nvPr/>
        </p:nvSpPr>
        <p:spPr>
          <a:xfrm>
            <a:off x="4974336" y="1325880"/>
            <a:ext cx="18288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74336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 commits SHA to Git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6876288" y="1554480"/>
            <a:ext cx="237744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flow Argo CD syncs"/>
          <p:cNvSpPr/>
          <p:nvPr/>
        </p:nvSpPr>
        <p:spPr>
          <a:xfrm>
            <a:off x="7187184" y="1325880"/>
            <a:ext cx="18288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87184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Argo CD syncs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9089136" y="1554480"/>
            <a:ext cx="237744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flow Rolling update"/>
          <p:cNvSpPr/>
          <p:nvPr/>
        </p:nvSpPr>
        <p:spPr>
          <a:xfrm>
            <a:off x="9400032" y="1325880"/>
            <a:ext cx="18288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00032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Rolling update</a:t>
            </a:r>
            <a:endParaRPr lang="en-US" sz="1400" dirty="0"/>
          </a:p>
        </p:txBody>
      </p:sp>
      <p:sp>
        <p:nvSpPr>
          <p:cNvPr id="17" name="bullets"/>
          <p:cNvSpPr txBox="1"/>
          <p:nvPr/>
        </p:nvSpPr>
        <p:spPr>
          <a:xfrm>
            <a:off x="548640" y="23774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Argo CD watches helm/inventrack on main with values-gitops.yaml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Auto-sync, prune and self-heal: manual drift is reverted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Rollback = git revert of the bump commit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demo: changed the footer to v1.1, pushed, and watched it go live</a:t>
            </a:r>
            <a:endParaRPr lang="en-US" sz="1500" dirty="0"/>
          </a:p>
        </p:txBody>
      </p:sp>
      <p:sp>
        <p:nvSpPr>
          <p:cNvPr id="18" name="frame argocd-app.png"/>
          <p:cNvSpPr/>
          <p:nvPr/>
        </p:nvSpPr>
        <p:spPr>
          <a:xfrm>
            <a:off x="5001768" y="2276856"/>
            <a:ext cx="6638544" cy="3950208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19" name="argocd-app.png" descr="Argo CD Synced / Healt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2331720"/>
            <a:ext cx="6528816" cy="3840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Troubleshooting: four break-and-fix scenarios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4023360"/>
                <a:gridCol w="332201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 broke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Symptom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Image tag that was never built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ImagePullBackOff, release failed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helm rollback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Service selector typo (apii)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Ingress returns HTTP 503, no endpoints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Re-apply chart with --force-conflicts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Wrong DB password in the Secret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Pod Running but 0/1 Ready, rollout stuck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Restore Secret, restart rollout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limit of 40 Mi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OOMKilled (exit 137), CrashLoopBackOff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helm rollback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badge"/>
          <p:cNvSpPr/>
          <p:nvPr/>
        </p:nvSpPr>
        <p:spPr>
          <a:xfrm>
            <a:off x="548640" y="4069080"/>
            <a:ext cx="685800" cy="6858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bad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4240530"/>
            <a:ext cx="342900" cy="342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40233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Users only noticed scenario 2.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the other three the old pods kept serving HTTP 200, because the API uses maxUnavailable: 0 and a readiness probe that checks the database. A routing bug bypasses that protection.</a:t>
            </a:r>
            <a:endParaRPr lang="en-US" sz="1500" dirty="0"/>
          </a:p>
        </p:txBody>
      </p:sp>
      <p:sp>
        <p:nvSpPr>
          <p:cNvPr id="7" name="frame 2-service-selector-problem.png"/>
          <p:cNvSpPr/>
          <p:nvPr/>
        </p:nvSpPr>
        <p:spPr>
          <a:xfrm>
            <a:off x="6071616" y="4150868"/>
            <a:ext cx="5596128" cy="1893824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8" name="2-service-selector-problem.png" descr="Selector typo: 50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205732"/>
            <a:ext cx="5486400" cy="17840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 learned</a:t>
            </a:r>
            <a:endParaRPr lang="en-US" sz="3400" dirty="0"/>
          </a:p>
        </p:txBody>
      </p:sp>
      <p:sp>
        <p:nvSpPr>
          <p:cNvPr id="3" name="card Readiness keeps users safe"/>
          <p:cNvSpPr/>
          <p:nvPr/>
        </p:nvSpPr>
        <p:spPr>
          <a:xfrm>
            <a:off x="548640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Readiness keeps users safe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1051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Readiness probes plus maxUnavailable: 0 kept the old version serving in 3 of 4 failures.</a:t>
            </a:r>
            <a:endParaRPr lang="en-US" sz="1700" dirty="0"/>
          </a:p>
        </p:txBody>
      </p:sp>
      <p:sp>
        <p:nvSpPr>
          <p:cNvPr id="6" name="card Scan what you ship"/>
          <p:cNvSpPr/>
          <p:nvPr/>
        </p:nvSpPr>
        <p:spPr>
          <a:xfrm>
            <a:off x="4270248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53128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Scan what you ship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453128" y="181051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Build once, scan the tarball, push that same tarball. Rebuilding after the scan voids it.</a:t>
            </a:r>
            <a:endParaRPr lang="en-US" sz="1700" dirty="0"/>
          </a:p>
        </p:txBody>
      </p:sp>
      <p:sp>
        <p:nvSpPr>
          <p:cNvPr id="9" name="card Base images carry CVEs"/>
          <p:cNvSpPr/>
          <p:nvPr/>
        </p:nvSpPr>
        <p:spPr>
          <a:xfrm>
            <a:off x="7991856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74736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Base images carry CVEs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174736" y="181051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All 43 HIGH findings came from the base image; apk upgrade cleared them.</a:t>
            </a:r>
            <a:endParaRPr lang="en-US" sz="1700" dirty="0"/>
          </a:p>
        </p:txBody>
      </p:sp>
      <p:sp>
        <p:nvSpPr>
          <p:cNvPr id="12" name="card Migrations in one place"/>
          <p:cNvSpPr/>
          <p:nvPr/>
        </p:nvSpPr>
        <p:spPr>
          <a:xfrm>
            <a:off x="548640" y="37033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Migrations in one place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3367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Helm hook Job runs Alembic once per release instead of racing in every replica.</a:t>
            </a:r>
            <a:endParaRPr lang="en-US" sz="1700" dirty="0"/>
          </a:p>
        </p:txBody>
      </p:sp>
      <p:sp>
        <p:nvSpPr>
          <p:cNvPr id="15" name="card Don't edit live objects"/>
          <p:cNvSpPr/>
          <p:nvPr/>
        </p:nvSpPr>
        <p:spPr>
          <a:xfrm>
            <a:off x="4270248" y="37033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53128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Don't edit live objects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453128" y="423367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Helm 4 server-side apply refuses fields another manager owns.</a:t>
            </a:r>
            <a:endParaRPr lang="en-US" sz="1700" dirty="0"/>
          </a:p>
        </p:txBody>
      </p:sp>
      <p:sp>
        <p:nvSpPr>
          <p:cNvPr id="18" name="card Cloud APIs have rules"/>
          <p:cNvSpPr/>
          <p:nvPr/>
        </p:nvSpPr>
        <p:spPr>
          <a:xfrm>
            <a:off x="7991856" y="370332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74736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Cloud APIs have rules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174736" y="423367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IAM rejected parentheses in a tag; terraform untaint saved a full EKS rebuild.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4" name="badge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badg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028700"/>
            <a:ext cx="411480" cy="411480"/>
          </a:xfrm>
          <a:prstGeom prst="rect">
            <a:avLst/>
          </a:prstGeom>
        </p:spPr>
      </p:pic>
      <p:sp>
        <p:nvSpPr>
          <p:cNvPr id="6" name="contact"/>
          <p:cNvSpPr txBox="1"/>
          <p:nvPr/>
        </p:nvSpPr>
        <p:spPr>
          <a:xfrm>
            <a:off x="548640" y="4983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Abhi Gandhi  ·  Roll No. 10397</a:t>
            </a:r>
            <a:endParaRPr lang="en-US" sz="2000" dirty="0"/>
          </a:p>
          <a:p>
            <a:pPr indent="0" marL="0">
              <a:buNone/>
            </a:pPr>
            <a:r>
              <a:rPr lang="en-US" sz="16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github.com/AbhiGandhi02/inventrack-devops</a:t>
            </a:r>
            <a:endParaRPr lang="en-US" sz="2000" dirty="0"/>
          </a:p>
        </p:txBody>
      </p:sp>
      <p:sp>
        <p:nvSpPr>
          <p:cNvPr id="7" name="frame gitops-v1.1-live.png"/>
          <p:cNvSpPr/>
          <p:nvPr/>
        </p:nvSpPr>
        <p:spPr>
          <a:xfrm>
            <a:off x="7260336" y="1882588"/>
            <a:ext cx="4407408" cy="3092824"/>
          </a:xfrm>
          <a:prstGeom prst="rect">
            <a:avLst/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A">
                <a:alpha val="18000"/>
              </a:srgbClr>
            </a:outerShdw>
          </a:effectLst>
        </p:spPr>
      </p:sp>
      <p:pic>
        <p:nvPicPr>
          <p:cNvPr id="8" name="gitops-v1.1-live.png" descr="v1.1 live after GitO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37452"/>
            <a:ext cx="4297680" cy="2983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venTrack">
  <a:themeElements>
    <a:clrScheme name="InvenTrack">
      <a:dk1>
        <a:srgbClr val="1B2A2E"/>
      </a:dk1>
      <a:lt1>
        <a:srgbClr val="FFFFFF"/>
      </a:lt1>
      <a:dk2>
        <a:srgbClr val="0B3B3A"/>
      </a:dk2>
      <a:lt2>
        <a:srgbClr val="EEF5F3"/>
      </a:lt2>
      <a:accent1>
        <a:srgbClr val="0F766E"/>
      </a:accent1>
      <a:accent2>
        <a:srgbClr val="D97706"/>
      </a:accent2>
      <a:accent3>
        <a:srgbClr val="14B8A6"/>
      </a:accent3>
      <a:accent4>
        <a:srgbClr val="B91C1C"/>
      </a:accent4>
      <a:accent5>
        <a:srgbClr val="475569"/>
      </a:accent5>
      <a:accent6>
        <a:srgbClr val="99F6E4"/>
      </a:accent6>
      <a:hlink>
        <a:srgbClr val="5EEAD4"/>
      </a:hlink>
      <a:folHlink>
        <a:srgbClr val="475569"/>
      </a:folHlink>
    </a:clrScheme>
    <a:fontScheme name="InvenTr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InvenTrack - End-to-End DevOps Project</dc:title>
  <dc:subject>DevOps final project - Abhi Gandhi (10397)</dc:subject>
  <dc:creator>Abhi Gandhi</dc:creator>
  <cp:lastModifiedBy>Abhi Gandhi</cp:lastModifiedBy>
  <cp:revision>1</cp:revision>
  <dcterms:created xsi:type="dcterms:W3CDTF">2026-10-19T17:53:42Z</dcterms:created>
  <dcterms:modified xsi:type="dcterms:W3CDTF">2026-10-19T17:53:42Z</dcterms:modified>
</cp:coreProperties>
</file>